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66928"/>
            <a:ext cx="8046720" cy="7132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3400" b="1">
                <a:solidFill>
                  <a:srgbClr val="121B29"/>
                </a:solidFill>
                <a:latin typeface="Aptos Display"/>
              </a:rPr>
              <a:t>NOVAC AI Hiring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34440"/>
            <a:ext cx="6766560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0">
                <a:solidFill>
                  <a:srgbClr val="5E6A7B"/>
                </a:solidFill>
                <a:latin typeface="Aptos"/>
              </a:rPr>
              <a:t>Working architecture and review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737360"/>
            <a:ext cx="6309360" cy="80467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21B29"/>
                </a:solidFill>
                <a:latin typeface="Aptos"/>
              </a:rPr>
              <a:t>Full-stack hiring automation: HR job setup, multi-resume screening, identity verification, live interview, transcription, AI grading, and downloadable completion reporting.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526280"/>
            <a:ext cx="2051913" cy="566928"/>
          </a:xfrm>
          <a:prstGeom prst="roundRect">
            <a:avLst/>
          </a:prstGeom>
          <a:solidFill>
            <a:srgbClr val="E8F1FD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 b="1">
                <a:solidFill>
                  <a:srgbClr val="121B29"/>
                </a:solidFill>
                <a:latin typeface="Aptos"/>
              </a:rPr>
              <a:t>React/Vite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47441" y="4526280"/>
            <a:ext cx="2051913" cy="566928"/>
          </a:xfrm>
          <a:prstGeom prst="roundRect">
            <a:avLst/>
          </a:prstGeom>
          <a:solidFill>
            <a:srgbClr val="E5F6F4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 b="1">
                <a:solidFill>
                  <a:srgbClr val="121B29"/>
                </a:solidFill>
                <a:latin typeface="Aptos"/>
              </a:rPr>
              <a:t>FastAPI backend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6857" y="4809744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09083" y="4526280"/>
            <a:ext cx="2051913" cy="566928"/>
          </a:xfrm>
          <a:prstGeom prst="roundRect">
            <a:avLst/>
          </a:prstGeom>
          <a:solidFill>
            <a:srgbClr val="E8F5EE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 b="1">
                <a:solidFill>
                  <a:srgbClr val="121B29"/>
                </a:solidFill>
                <a:latin typeface="Aptos"/>
              </a:rPr>
              <a:t>Local storage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08499" y="4809744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170724" y="4526280"/>
            <a:ext cx="2051913" cy="566928"/>
          </a:xfrm>
          <a:prstGeom prst="roundRect">
            <a:avLst/>
          </a:prstGeom>
          <a:solidFill>
            <a:srgbClr val="FAF1E2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 b="1">
                <a:solidFill>
                  <a:srgbClr val="121B29"/>
                </a:solidFill>
                <a:latin typeface="Aptos"/>
              </a:rPr>
              <a:t>AI model layer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70140" y="4809744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332366" y="4526280"/>
            <a:ext cx="2051913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 b="1">
                <a:solidFill>
                  <a:srgbClr val="121B29"/>
                </a:solidFill>
                <a:latin typeface="Aptos"/>
              </a:rPr>
              <a:t>HR review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31782" y="4809744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69480" y="1005840"/>
            <a:ext cx="169164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1005840"/>
            <a:ext cx="73152" cy="868680"/>
          </a:xfrm>
          <a:prstGeom prst="rect">
            <a:avLst/>
          </a:prstGeom>
          <a:solidFill>
            <a:srgbClr val="23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34072" y="1115568"/>
            <a:ext cx="141732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072" y="1426464"/>
            <a:ext cx="1417320" cy="365759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Frontend pages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005840"/>
            <a:ext cx="169164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005840"/>
            <a:ext cx="73152" cy="868680"/>
          </a:xfrm>
          <a:prstGeom prst="rect">
            <a:avLst/>
          </a:prstGeom>
          <a:solidFill>
            <a:srgbClr val="14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0032" y="1115568"/>
            <a:ext cx="141732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1426464"/>
            <a:ext cx="1417320" cy="365759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Backend route groups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148840"/>
            <a:ext cx="169164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69480" y="2148840"/>
            <a:ext cx="73152" cy="868680"/>
          </a:xfrm>
          <a:prstGeom prst="rect">
            <a:avLst/>
          </a:prstGeom>
          <a:solidFill>
            <a:srgbClr val="308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34072" y="2258568"/>
            <a:ext cx="141732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5+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4072" y="2569464"/>
            <a:ext cx="1417320" cy="365759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AI/ML model families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2148840"/>
            <a:ext cx="169164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5440" y="2148840"/>
            <a:ext cx="73152" cy="868680"/>
          </a:xfrm>
          <a:prstGeom prst="rect">
            <a:avLst/>
          </a:prstGeom>
          <a:solidFill>
            <a:srgbClr val="C98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2258568"/>
            <a:ext cx="141732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Offline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2569464"/>
            <a:ext cx="1417320" cy="365759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after model caches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355080"/>
            <a:ext cx="365760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50" b="0">
                <a:solidFill>
                  <a:srgbClr val="5E6A7B"/>
                </a:solidFill>
                <a:latin typeface="Aptos"/>
              </a:rPr>
              <a:t>Prepared from codebase analysis on June 26,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56032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235BA6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8229600" cy="6583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600" b="1">
                <a:solidFill>
                  <a:srgbClr val="121B29"/>
                </a:solidFill>
                <a:latin typeface="Aptos Display"/>
              </a:rPr>
              <a:t>The platform separates UI, API orchestration, storage, and model runtimes.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25296"/>
            <a:ext cx="8412480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E6A7B"/>
                </a:solidFill>
                <a:latin typeface="Aptos"/>
              </a:rPr>
              <a:t>React owns workflow state; FastAPI owns persistence and AI pipeline calls.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E6A7B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1201400" cy="9144"/>
          </a:xfrm>
          <a:prstGeom prst="rect">
            <a:avLst/>
          </a:prstGeom>
          <a:solidFill>
            <a:srgbClr val="C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2971800" cy="749808"/>
          </a:xfrm>
          <a:prstGeom prst="roundRect">
            <a:avLst/>
          </a:prstGeom>
          <a:solidFill>
            <a:srgbClr val="E8F1FD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73152" cy="749808"/>
          </a:xfrm>
          <a:prstGeom prst="rect">
            <a:avLst/>
          </a:prstGeom>
          <a:solidFill>
            <a:srgbClr val="23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029968"/>
            <a:ext cx="269748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Frontend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40864"/>
            <a:ext cx="2697480" cy="246887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Home, HR dashboard, jobs, uploads, question bank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Candidate verify, face check, interview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80360"/>
            <a:ext cx="2971800" cy="749808"/>
          </a:xfrm>
          <a:prstGeom prst="roundRect">
            <a:avLst/>
          </a:prstGeom>
          <a:solidFill>
            <a:srgbClr val="E5F6F4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880360"/>
            <a:ext cx="73152" cy="749808"/>
          </a:xfrm>
          <a:prstGeom prst="rect">
            <a:avLst/>
          </a:prstGeom>
          <a:solidFill>
            <a:srgbClr val="14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990088"/>
            <a:ext cx="269748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FastAPI routes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300984"/>
            <a:ext cx="2697480" cy="246887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resume, ats, kyc, interview, hr/jobs, question-bank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CORS for localhost React clients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840480"/>
            <a:ext cx="2971800" cy="749808"/>
          </a:xfrm>
          <a:prstGeom prst="roundRect">
            <a:avLst/>
          </a:prstGeom>
          <a:solidFill>
            <a:srgbClr val="E8F5EE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840480"/>
            <a:ext cx="73152" cy="749808"/>
          </a:xfrm>
          <a:prstGeom prst="rect">
            <a:avLst/>
          </a:prstGeom>
          <a:solidFill>
            <a:srgbClr val="308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950208"/>
            <a:ext cx="269748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Service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261104"/>
            <a:ext cx="2697480" cy="246887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resume parser, ATS engine, KYC, face verification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Whisper, Qwen, question bank, local store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800600"/>
            <a:ext cx="2971800" cy="749808"/>
          </a:xfrm>
          <a:prstGeom prst="roundRect">
            <a:avLst/>
          </a:prstGeom>
          <a:solidFill>
            <a:srgbClr val="FAF1E2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800600"/>
            <a:ext cx="73152" cy="749808"/>
          </a:xfrm>
          <a:prstGeom prst="rect">
            <a:avLst/>
          </a:prstGeom>
          <a:solidFill>
            <a:srgbClr val="C98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4910328"/>
            <a:ext cx="269748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Storage + model assets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5221224"/>
            <a:ext cx="2697480" cy="246887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applications.json, jobs.json, question_banks/*.json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candidate folders, uploaded PDFs, photos, audio, live frames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03320" y="2295144"/>
            <a:ext cx="548640" cy="960119"/>
          </a:xfrm>
          <a:prstGeom prst="line">
            <a:avLst/>
          </a:prstGeom>
          <a:ln w="1524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703320" y="3255263"/>
            <a:ext cx="548640" cy="960120"/>
          </a:xfrm>
          <a:prstGeom prst="line">
            <a:avLst/>
          </a:prstGeom>
          <a:ln w="1524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703320" y="4215383"/>
            <a:ext cx="548640" cy="960121"/>
          </a:xfrm>
          <a:prstGeom prst="line">
            <a:avLst/>
          </a:prstGeom>
          <a:ln w="1524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297680" y="1965960"/>
            <a:ext cx="288036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1965960"/>
            <a:ext cx="73152" cy="3429000"/>
          </a:xfrm>
          <a:prstGeom prst="rect">
            <a:avLst/>
          </a:prstGeom>
          <a:solidFill>
            <a:srgbClr val="23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2075688"/>
            <a:ext cx="260604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AI/ML runtimes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2386584"/>
            <a:ext cx="2606040" cy="29260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JobBERT via sentence-transformers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Qwen2.5:7b through Ollama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Faster-Whisper local model cache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InsightFace buffalo_l / ArcFace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YOLO + PaddleOCR ID validator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1965960"/>
            <a:ext cx="361188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52360" y="1965960"/>
            <a:ext cx="73152" cy="3429000"/>
          </a:xfrm>
          <a:prstGeom prst="rect">
            <a:avLst/>
          </a:prstGeom>
          <a:solidFill>
            <a:srgbClr val="14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16952" y="2075688"/>
            <a:ext cx="333756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External/local boundaries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16952" y="2386584"/>
            <a:ext cx="3337560" cy="29260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Ollama HTTP: 127.0.0.1:11434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Indian ID validator subprocess in id_venv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Browser camera/microphone APIs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No active MongoDB driver; local JSON store behind db_service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56032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235BA6"/>
                </a:solidFill>
                <a:latin typeface="Aptos"/>
              </a:rPr>
              <a:t>HR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8229600" cy="6583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600" b="1">
                <a:solidFill>
                  <a:srgbClr val="121B29"/>
                </a:solidFill>
                <a:latin typeface="Aptos Display"/>
              </a:rPr>
              <a:t>HR can create a role, attach a question bank, bulk-screen resumes, and review outcomes.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25296"/>
            <a:ext cx="8412480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E6A7B"/>
                </a:solidFill>
                <a:latin typeface="Aptos"/>
              </a:rPr>
              <a:t>The HR path is job-centric; candidate artifacts remain linked by application_id.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E6A7B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1201400" cy="9144"/>
          </a:xfrm>
          <a:prstGeom prst="rect">
            <a:avLst/>
          </a:prstGeom>
          <a:solidFill>
            <a:srgbClr val="C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1722120" cy="566928"/>
          </a:xfrm>
          <a:prstGeom prst="roundRect">
            <a:avLst/>
          </a:prstGeom>
          <a:solidFill>
            <a:srgbClr val="E8F1FD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19" b="1">
                <a:solidFill>
                  <a:srgbClr val="121B29"/>
                </a:solidFill>
                <a:latin typeface="Aptos"/>
              </a:rPr>
              <a:t>Create job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7648" y="1920240"/>
            <a:ext cx="1722120" cy="566928"/>
          </a:xfrm>
          <a:prstGeom prst="roundRect">
            <a:avLst/>
          </a:prstGeom>
          <a:solidFill>
            <a:srgbClr val="E8F1FD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19" b="1">
                <a:solidFill>
                  <a:srgbClr val="121B29"/>
                </a:solidFill>
                <a:latin typeface="Aptos"/>
              </a:rPr>
              <a:t>Upload resumes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17064" y="2203704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9496" y="1920240"/>
            <a:ext cx="1722120" cy="566928"/>
          </a:xfrm>
          <a:prstGeom prst="roundRect">
            <a:avLst/>
          </a:prstGeom>
          <a:solidFill>
            <a:srgbClr val="E5F6F4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19" b="1">
                <a:solidFill>
                  <a:srgbClr val="121B29"/>
                </a:solidFill>
                <a:latin typeface="Aptos"/>
              </a:rPr>
              <a:t>ATS auto-score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48912" y="2203704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81344" y="1920240"/>
            <a:ext cx="1722120" cy="566928"/>
          </a:xfrm>
          <a:prstGeom prst="roundRect">
            <a:avLst/>
          </a:prstGeom>
          <a:solidFill>
            <a:srgbClr val="E8F5EE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19" b="1">
                <a:solidFill>
                  <a:srgbClr val="121B29"/>
                </a:solidFill>
                <a:latin typeface="Aptos"/>
              </a:rPr>
              <a:t>Question bank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59" y="2203704"/>
            <a:ext cx="82297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13192" y="1920240"/>
            <a:ext cx="1722120" cy="566928"/>
          </a:xfrm>
          <a:prstGeom prst="roundRect">
            <a:avLst/>
          </a:prstGeom>
          <a:solidFill>
            <a:srgbClr val="FAF1E2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19" b="1">
                <a:solidFill>
                  <a:srgbClr val="121B29"/>
                </a:solidFill>
                <a:latin typeface="Aptos"/>
              </a:rPr>
              <a:t>Generate link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12608" y="2203704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845040" y="1920240"/>
            <a:ext cx="172212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19" b="1">
                <a:solidFill>
                  <a:srgbClr val="121B29"/>
                </a:solidFill>
                <a:latin typeface="Aptos"/>
              </a:rPr>
              <a:t>Review report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44456" y="2203704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" y="2880360"/>
            <a:ext cx="251460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880360"/>
            <a:ext cx="73152" cy="1828800"/>
          </a:xfrm>
          <a:prstGeom prst="rect">
            <a:avLst/>
          </a:prstGeom>
          <a:solidFill>
            <a:srgbClr val="23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990088"/>
            <a:ext cx="224028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Role 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300984"/>
            <a:ext cx="2240280" cy="1325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title, description, required skills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education, experience, keywords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39" y="2880360"/>
            <a:ext cx="251460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20439" y="2880360"/>
            <a:ext cx="73152" cy="1828800"/>
          </a:xfrm>
          <a:prstGeom prst="rect">
            <a:avLst/>
          </a:prstGeom>
          <a:solidFill>
            <a:srgbClr val="14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85031" y="2990088"/>
            <a:ext cx="224028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Bulk upload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5031" y="3300984"/>
            <a:ext cx="2240280" cy="1325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multiple PDF files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per-file success/failure + duplicate flag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2880360"/>
            <a:ext cx="251460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59" y="2880360"/>
            <a:ext cx="73152" cy="1828800"/>
          </a:xfrm>
          <a:prstGeom prst="rect">
            <a:avLst/>
          </a:prstGeom>
          <a:solidFill>
            <a:srgbClr val="308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1" y="2990088"/>
            <a:ext cx="224028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Candidate 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1" y="3300984"/>
            <a:ext cx="2240280" cy="1325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ATS, semantic, skill, education, experience, project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verification, interview status, score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2880360"/>
            <a:ext cx="251460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98280" y="2880360"/>
            <a:ext cx="73152" cy="1828800"/>
          </a:xfrm>
          <a:prstGeom prst="rect">
            <a:avLst/>
          </a:prstGeom>
          <a:solidFill>
            <a:srgbClr val="C98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62872" y="2990088"/>
            <a:ext cx="224028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Completed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3300984"/>
            <a:ext cx="2240280" cy="1325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candidate details panel shows answers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score rubric, feedback, transcript/audio path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assumed downloadable report export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E6A7B"/>
                </a:solidFill>
                <a:latin typeface="Aptos"/>
              </a:rPr>
              <a:t>Primary frontend pages: HRHomePage, HRDashboardPage, CurrentJobsPage, UploadResumePage, QuestionBankPage, JobApplicationsPage, ShortlistedCandidatesPage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56032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235BA6"/>
                </a:solidFill>
                <a:latin typeface="Aptos"/>
              </a:rPr>
              <a:t>CANDIDATE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8229600" cy="6583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600" b="1">
                <a:solidFill>
                  <a:srgbClr val="121B29"/>
                </a:solidFill>
                <a:latin typeface="Aptos Display"/>
              </a:rPr>
              <a:t>Candidates pass verification gates before the live interview opens.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25296"/>
            <a:ext cx="8412480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E6A7B"/>
                </a:solidFill>
                <a:latin typeface="Aptos"/>
              </a:rPr>
              <a:t>The route controller moves candidates through /verify, /face-verification, and /interview.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E6A7B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1201400" cy="9144"/>
          </a:xfrm>
          <a:prstGeom prst="rect">
            <a:avLst/>
          </a:prstGeom>
          <a:solidFill>
            <a:srgbClr val="C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1722120" cy="566928"/>
          </a:xfrm>
          <a:prstGeom prst="roundRect">
            <a:avLst/>
          </a:prstGeom>
          <a:solidFill>
            <a:srgbClr val="E8F1FD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19" b="1">
                <a:solidFill>
                  <a:srgbClr val="121B29"/>
                </a:solidFill>
                <a:latin typeface="Aptos"/>
              </a:rPr>
              <a:t>Verification link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7648" y="1874519"/>
            <a:ext cx="1722120" cy="566928"/>
          </a:xfrm>
          <a:prstGeom prst="roundRect">
            <a:avLst/>
          </a:prstGeom>
          <a:solidFill>
            <a:srgbClr val="E5F6F4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19" b="1">
                <a:solidFill>
                  <a:srgbClr val="121B29"/>
                </a:solidFill>
                <a:latin typeface="Aptos"/>
              </a:rPr>
              <a:t>Aadhaar upload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17064" y="2157984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9496" y="1874519"/>
            <a:ext cx="1722120" cy="566928"/>
          </a:xfrm>
          <a:prstGeom prst="roundRect">
            <a:avLst/>
          </a:prstGeom>
          <a:solidFill>
            <a:srgbClr val="E8F5EE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19" b="1">
                <a:solidFill>
                  <a:srgbClr val="121B29"/>
                </a:solidFill>
                <a:latin typeface="Aptos"/>
              </a:rPr>
              <a:t>Face + liveness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48912" y="2157984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81344" y="1874519"/>
            <a:ext cx="1722120" cy="566928"/>
          </a:xfrm>
          <a:prstGeom prst="roundRect">
            <a:avLst/>
          </a:prstGeom>
          <a:solidFill>
            <a:srgbClr val="FAF1E2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19" b="1">
                <a:solidFill>
                  <a:srgbClr val="121B29"/>
                </a:solidFill>
                <a:latin typeface="Aptos"/>
              </a:rPr>
              <a:t>Interview start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59" y="2157984"/>
            <a:ext cx="82297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13192" y="1874519"/>
            <a:ext cx="172212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19" b="1">
                <a:solidFill>
                  <a:srgbClr val="121B29"/>
                </a:solidFill>
                <a:latin typeface="Aptos"/>
              </a:rPr>
              <a:t>Voice answers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12608" y="2157984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845040" y="1874519"/>
            <a:ext cx="1722120" cy="566928"/>
          </a:xfrm>
          <a:prstGeom prst="roundRect">
            <a:avLst/>
          </a:prstGeom>
          <a:solidFill>
            <a:srgbClr val="E8F5EE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19" b="1">
                <a:solidFill>
                  <a:srgbClr val="121B29"/>
                </a:solidFill>
                <a:latin typeface="Aptos"/>
              </a:rPr>
              <a:t>Submitted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44456" y="2157984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2960" y="2834640"/>
            <a:ext cx="324612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2834640"/>
            <a:ext cx="73152" cy="2286000"/>
          </a:xfrm>
          <a:prstGeom prst="rect">
            <a:avLst/>
          </a:prstGeom>
          <a:solidFill>
            <a:srgbClr val="23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2944368"/>
            <a:ext cx="297180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Preconditions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255264"/>
            <a:ext cx="2971800" cy="17830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ATS must be passed before Aadhaar verification.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Interview routes reject access until Aadhaar and face checks are true.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Completed interviews cannot be restarted from a used link.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2834640"/>
            <a:ext cx="324612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2834640"/>
            <a:ext cx="73152" cy="2286000"/>
          </a:xfrm>
          <a:prstGeom prst="rect">
            <a:avLst/>
          </a:prstGeom>
          <a:solidFill>
            <a:srgbClr val="14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1" y="2944368"/>
            <a:ext cx="297180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Browser devices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1" y="3255264"/>
            <a:ext cx="2971800" cy="17830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Camera preview is reused between face verification and interview.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Microphone recording uses MediaRecorder; transcript is read-only after Whisper.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Camera remains visible during the interview session.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2834640"/>
            <a:ext cx="324612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2834640"/>
            <a:ext cx="73152" cy="2286000"/>
          </a:xfrm>
          <a:prstGeom prst="rect">
            <a:avLst/>
          </a:prstGeom>
          <a:solidFill>
            <a:srgbClr val="308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1312" y="2944368"/>
            <a:ext cx="297180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Completion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3255264"/>
            <a:ext cx="2971800" cy="17830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Each question answer is transcribed and submitted.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Qwen grading must succeed for every answer.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Interview score averages graded final scores and marks the link as 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56032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235BA6"/>
                </a:solidFill>
                <a:latin typeface="Aptos"/>
              </a:rPr>
              <a:t>RESUME UPLOAD AND ATS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8229600" cy="6583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600" b="1">
                <a:solidFill>
                  <a:srgbClr val="121B29"/>
                </a:solidFill>
                <a:latin typeface="Aptos Display"/>
              </a:rPr>
              <a:t>Multi-file upload immediately produces structured candidate records and screening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25296"/>
            <a:ext cx="8412480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E6A7B"/>
                </a:solidFill>
                <a:latin typeface="Aptos"/>
              </a:rPr>
              <a:t>PDF parsing, duplicate detection, section extraction, face-photo capture, and weighted ATS scoring run server-side.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E6A7B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1201400" cy="9144"/>
          </a:xfrm>
          <a:prstGeom prst="rect">
            <a:avLst/>
          </a:prstGeom>
          <a:solidFill>
            <a:srgbClr val="C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47349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19" b="1">
                <a:solidFill>
                  <a:srgbClr val="121B29"/>
                </a:solidFill>
                <a:latin typeface="Aptos"/>
              </a:rPr>
              <a:t>PDF(s)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23298" y="1828800"/>
            <a:ext cx="1473490" cy="530352"/>
          </a:xfrm>
          <a:prstGeom prst="roundRect">
            <a:avLst/>
          </a:prstGeom>
          <a:solidFill>
            <a:srgbClr val="E8F1FD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19" b="1">
                <a:solidFill>
                  <a:srgbClr val="121B29"/>
                </a:solidFill>
                <a:latin typeface="Aptos"/>
              </a:rPr>
              <a:t>UUID folder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22714" y="2093976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06516" y="1828800"/>
            <a:ext cx="1473490" cy="530352"/>
          </a:xfrm>
          <a:prstGeom prst="roundRect">
            <a:avLst/>
          </a:prstGeom>
          <a:solidFill>
            <a:srgbClr val="E8F1FD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19" b="1">
                <a:solidFill>
                  <a:srgbClr val="121B29"/>
                </a:solidFill>
                <a:latin typeface="Aptos"/>
              </a:rPr>
              <a:t>SHA-256 duplicate check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05932" y="2093976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89734" y="1828800"/>
            <a:ext cx="1473490" cy="530352"/>
          </a:xfrm>
          <a:prstGeom prst="roundRect">
            <a:avLst/>
          </a:prstGeom>
          <a:solidFill>
            <a:srgbClr val="E5F6F4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19" b="1">
                <a:solidFill>
                  <a:srgbClr val="121B29"/>
                </a:solidFill>
                <a:latin typeface="Aptos"/>
              </a:rPr>
              <a:t>PyMuPDF text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89150" y="2093976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72953" y="1828800"/>
            <a:ext cx="1473490" cy="530352"/>
          </a:xfrm>
          <a:prstGeom prst="roundRect">
            <a:avLst/>
          </a:prstGeom>
          <a:solidFill>
            <a:srgbClr val="E5F6F4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19" b="1">
                <a:solidFill>
                  <a:srgbClr val="121B29"/>
                </a:solidFill>
                <a:latin typeface="Aptos"/>
              </a:rPr>
              <a:t>Sections + photo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72369" y="2093976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556171" y="1828800"/>
            <a:ext cx="1473490" cy="530352"/>
          </a:xfrm>
          <a:prstGeom prst="roundRect">
            <a:avLst/>
          </a:prstGeom>
          <a:solidFill>
            <a:srgbClr val="E8F5EE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19" b="1">
                <a:solidFill>
                  <a:srgbClr val="121B29"/>
                </a:solidFill>
                <a:latin typeface="Aptos"/>
              </a:rPr>
              <a:t>Save application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55587" y="2093976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139389" y="1828800"/>
            <a:ext cx="1473490" cy="530352"/>
          </a:xfrm>
          <a:prstGeom prst="roundRect">
            <a:avLst/>
          </a:prstGeom>
          <a:solidFill>
            <a:srgbClr val="FAF1E2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19" b="1">
                <a:solidFill>
                  <a:srgbClr val="121B29"/>
                </a:solidFill>
                <a:latin typeface="Aptos"/>
              </a:rPr>
              <a:t>ATS score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38805" y="2093976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31520" y="2834640"/>
            <a:ext cx="9921240" cy="384048"/>
          </a:xfrm>
          <a:prstGeom prst="rect">
            <a:avLst/>
          </a:prstGeom>
          <a:solidFill>
            <a:srgbClr val="313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2898648"/>
            <a:ext cx="1892807" cy="31089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69" b="1">
                <a:solidFill>
                  <a:srgbClr val="FFFFFF"/>
                </a:solidFill>
                <a:latin typeface="Aptos"/>
              </a:rPr>
              <a:t>ATS component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4056" y="2898648"/>
            <a:ext cx="4636008" cy="31089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69" b="1">
                <a:solidFill>
                  <a:srgbClr val="FFFFFF"/>
                </a:solidFill>
                <a:latin typeface="Aptos"/>
              </a:rPr>
              <a:t>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6" y="2898648"/>
            <a:ext cx="3172968" cy="31089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69" b="1">
                <a:solidFill>
                  <a:srgbClr val="FFFFFF"/>
                </a:solidFill>
                <a:latin typeface="Aptos"/>
              </a:rPr>
              <a:t>Stored output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218688"/>
            <a:ext cx="9921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273552"/>
            <a:ext cx="1892807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69" b="0">
                <a:solidFill>
                  <a:srgbClr val="121B29"/>
                </a:solidFill>
                <a:latin typeface="Aptos"/>
              </a:rPr>
              <a:t>Semantic relevance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34056" y="3273552"/>
            <a:ext cx="4636008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69" b="0">
                <a:solidFill>
                  <a:srgbClr val="121B29"/>
                </a:solidFill>
                <a:latin typeface="Aptos"/>
              </a:rPr>
              <a:t>TechWolf/JobBERT-v3 cosine similarity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3273552"/>
            <a:ext cx="3172968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69" b="0">
                <a:solidFill>
                  <a:srgbClr val="121B29"/>
                </a:solidFill>
                <a:latin typeface="Aptos"/>
              </a:rPr>
              <a:t>semantic_score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602736"/>
            <a:ext cx="9921240" cy="384048"/>
          </a:xfrm>
          <a:prstGeom prst="rect">
            <a:avLst/>
          </a:prstGeom>
          <a:solidFill>
            <a:srgbClr val="F7F8FA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3657600"/>
            <a:ext cx="1892807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69" b="0">
                <a:solidFill>
                  <a:srgbClr val="121B29"/>
                </a:solidFill>
                <a:latin typeface="Aptos"/>
              </a:rPr>
              <a:t>Skill match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34056" y="3657600"/>
            <a:ext cx="4636008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69" b="0">
                <a:solidFill>
                  <a:srgbClr val="121B29"/>
                </a:solidFill>
                <a:latin typeface="Aptos"/>
              </a:rPr>
              <a:t>aliases + extracted skills + raw 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6" y="3657600"/>
            <a:ext cx="3172968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69" b="0">
                <a:solidFill>
                  <a:srgbClr val="121B29"/>
                </a:solidFill>
                <a:latin typeface="Aptos"/>
              </a:rPr>
              <a:t>matched_skills / missing_skills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986784"/>
            <a:ext cx="9921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4041648"/>
            <a:ext cx="1892807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69" b="0">
                <a:solidFill>
                  <a:srgbClr val="121B29"/>
                </a:solidFill>
                <a:latin typeface="Aptos"/>
              </a:rPr>
              <a:t>Education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34056" y="4041648"/>
            <a:ext cx="4636008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69" b="0">
                <a:solidFill>
                  <a:srgbClr val="121B29"/>
                </a:solidFill>
                <a:latin typeface="Aptos"/>
              </a:rPr>
              <a:t>parsed education vs job requirement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43216" y="4041648"/>
            <a:ext cx="3172968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69" b="0">
                <a:solidFill>
                  <a:srgbClr val="121B29"/>
                </a:solidFill>
                <a:latin typeface="Aptos"/>
              </a:rPr>
              <a:t>education_score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370832"/>
            <a:ext cx="9921240" cy="384048"/>
          </a:xfrm>
          <a:prstGeom prst="rect">
            <a:avLst/>
          </a:prstGeom>
          <a:solidFill>
            <a:srgbClr val="F7F8FA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4425696"/>
            <a:ext cx="1892807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69" b="0">
                <a:solidFill>
                  <a:srgbClr val="121B29"/>
                </a:solidFill>
                <a:latin typeface="Aptos"/>
              </a:rPr>
              <a:t>Experience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34056" y="4425696"/>
            <a:ext cx="4636008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69" b="0">
                <a:solidFill>
                  <a:srgbClr val="121B29"/>
                </a:solidFill>
                <a:latin typeface="Aptos"/>
              </a:rPr>
              <a:t>duration/experience parser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3216" y="4425696"/>
            <a:ext cx="3172968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69" b="0">
                <a:solidFill>
                  <a:srgbClr val="121B29"/>
                </a:solidFill>
                <a:latin typeface="Aptos"/>
              </a:rPr>
              <a:t>experience_score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754880"/>
            <a:ext cx="9921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4809744"/>
            <a:ext cx="1892807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69" b="0">
                <a:solidFill>
                  <a:srgbClr val="121B29"/>
                </a:solidFill>
                <a:latin typeface="Aptos"/>
              </a:rPr>
              <a:t>Project quality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34056" y="4809744"/>
            <a:ext cx="4636008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69" b="0">
                <a:solidFill>
                  <a:srgbClr val="121B29"/>
                </a:solidFill>
                <a:latin typeface="Aptos"/>
              </a:rPr>
              <a:t>projects + long experience descriptions + JD keywords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43216" y="4809744"/>
            <a:ext cx="3172968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69" b="0">
                <a:solidFill>
                  <a:srgbClr val="121B29"/>
                </a:solidFill>
                <a:latin typeface="Aptos"/>
              </a:rPr>
              <a:t>project_score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5138928"/>
            <a:ext cx="9921240" cy="384048"/>
          </a:xfrm>
          <a:prstGeom prst="rect">
            <a:avLst/>
          </a:prstGeom>
          <a:solidFill>
            <a:srgbClr val="F7F8FA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" y="5193792"/>
            <a:ext cx="1892807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69" b="0">
                <a:solidFill>
                  <a:srgbClr val="121B29"/>
                </a:solidFill>
                <a:latin typeface="Aptos"/>
              </a:rPr>
              <a:t>Decision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34056" y="5193792"/>
            <a:ext cx="4636008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69" b="0">
                <a:solidFill>
                  <a:srgbClr val="121B29"/>
                </a:solidFill>
                <a:latin typeface="Aptos"/>
              </a:rPr>
              <a:t>threshold = 70; passed/failed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43216" y="5193792"/>
            <a:ext cx="3172968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69" b="0">
                <a:solidFill>
                  <a:srgbClr val="121B29"/>
                </a:solidFill>
                <a:latin typeface="Aptos"/>
              </a:rPr>
              <a:t>ats_status / ats_score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458200" y="2880360"/>
            <a:ext cx="2743200" cy="2331720"/>
          </a:xfrm>
          <a:prstGeom prst="roundRect">
            <a:avLst/>
          </a:prstGeom>
          <a:solidFill>
            <a:srgbClr val="FAF1E2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458200" y="2880360"/>
            <a:ext cx="73152" cy="2331720"/>
          </a:xfrm>
          <a:prstGeom prst="rect">
            <a:avLst/>
          </a:prstGeom>
          <a:solidFill>
            <a:srgbClr val="C98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22792" y="2990088"/>
            <a:ext cx="246888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Calibration note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22792" y="3300984"/>
            <a:ext cx="2468880" cy="1828799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Current ats_engine combines semantic, skill, education, experience, and project scores. Weight tuning/normalization is a future improvement because the implemented weights exceed 1.0.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56032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235BA6"/>
                </a:solidFill>
                <a:latin typeface="Aptos"/>
              </a:rPr>
              <a:t>QUESTION BANK AND QWEN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8229600" cy="6583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600" b="1">
                <a:solidFill>
                  <a:srgbClr val="121B29"/>
                </a:solidFill>
                <a:latin typeface="Aptos Display"/>
              </a:rPr>
              <a:t>The platform prefers HR-authored question banks, then can fall back to Qwen or rule-based generation.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25296"/>
            <a:ext cx="8412480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E6A7B"/>
                </a:solidFill>
                <a:latin typeface="Aptos"/>
              </a:rPr>
              <a:t>Question bank content is job-scoped and normalized before interview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E6A7B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1201400" cy="9144"/>
          </a:xfrm>
          <a:prstGeom prst="rect">
            <a:avLst/>
          </a:prstGeom>
          <a:solidFill>
            <a:srgbClr val="C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1706880" cy="530352"/>
          </a:xfrm>
          <a:prstGeom prst="roundRect">
            <a:avLst/>
          </a:prstGeom>
          <a:solidFill>
            <a:srgbClr val="E8F1FD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40" b="1">
                <a:solidFill>
                  <a:srgbClr val="121B29"/>
                </a:solidFill>
                <a:latin typeface="Aptos"/>
              </a:rPr>
              <a:t>Manual/text upload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2408" y="1874519"/>
            <a:ext cx="1706880" cy="530352"/>
          </a:xfrm>
          <a:prstGeom prst="roundRect">
            <a:avLst/>
          </a:prstGeom>
          <a:solidFill>
            <a:srgbClr val="E8F1FD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40" b="1">
                <a:solidFill>
                  <a:srgbClr val="121B29"/>
                </a:solidFill>
                <a:latin typeface="Aptos"/>
              </a:rPr>
              <a:t>Parse CSV/TXT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01824" y="2139696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19016" y="1874519"/>
            <a:ext cx="1706880" cy="530352"/>
          </a:xfrm>
          <a:prstGeom prst="roundRect">
            <a:avLst/>
          </a:prstGeom>
          <a:solidFill>
            <a:srgbClr val="E5F6F4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40" b="1">
                <a:solidFill>
                  <a:srgbClr val="121B29"/>
                </a:solidFill>
                <a:latin typeface="Aptos"/>
              </a:rPr>
              <a:t>Normalize fields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18432" y="2139696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35624" y="1874519"/>
            <a:ext cx="1706880" cy="530352"/>
          </a:xfrm>
          <a:prstGeom prst="roundRect">
            <a:avLst/>
          </a:prstGeom>
          <a:solidFill>
            <a:srgbClr val="E8F5EE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40" b="1">
                <a:solidFill>
                  <a:srgbClr val="121B29"/>
                </a:solidFill>
                <a:latin typeface="Aptos"/>
              </a:rPr>
              <a:t>Store by job_id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35040" y="2139696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52232" y="1874519"/>
            <a:ext cx="1706880" cy="530352"/>
          </a:xfrm>
          <a:prstGeom prst="roundRect">
            <a:avLst/>
          </a:prstGeom>
          <a:solidFill>
            <a:srgbClr val="FAF1E2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40" b="1">
                <a:solidFill>
                  <a:srgbClr val="121B29"/>
                </a:solidFill>
                <a:latin typeface="Aptos"/>
              </a:rPr>
              <a:t>Load for interview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51648" y="2139696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68840" y="1874519"/>
            <a:ext cx="170688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40" b="1">
                <a:solidFill>
                  <a:srgbClr val="121B29"/>
                </a:solidFill>
                <a:latin typeface="Aptos"/>
              </a:rPr>
              <a:t>Select 5 questions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68256" y="2139696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" y="2880360"/>
            <a:ext cx="324612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2880360"/>
            <a:ext cx="73152" cy="2148840"/>
          </a:xfrm>
          <a:prstGeom prst="rect">
            <a:avLst/>
          </a:prstGeom>
          <a:solidFill>
            <a:srgbClr val="23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2990088"/>
            <a:ext cx="297180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Question bank contract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3300984"/>
            <a:ext cx="2971800" cy="1645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Fields: id, question, expected_answer, difficulty, category.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TXT supports Q:/A:, ANS:=, numbered formats; CSV/TSV uses DictReader.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Interview normalizes expectedAnswer aliases for frontend and grading.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880360"/>
            <a:ext cx="324612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2880360"/>
            <a:ext cx="73152" cy="2148840"/>
          </a:xfrm>
          <a:prstGeom prst="rect">
            <a:avLst/>
          </a:prstGeom>
          <a:solidFill>
            <a:srgbClr val="14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5152" y="2990088"/>
            <a:ext cx="297180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Qwen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3300984"/>
            <a:ext cx="2971800" cy="1645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Ollama endpoint /api/generate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Model default qwen2.5:7b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Strict JSON schema: exactly 5 questions, 2 Easy, 2 Medium, 1 Hard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Prompt uses resume, ATS, job, matched/missing skills.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2880360"/>
            <a:ext cx="324612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79" y="2880360"/>
            <a:ext cx="73152" cy="2148840"/>
          </a:xfrm>
          <a:prstGeom prst="rect">
            <a:avLst/>
          </a:prstGeom>
          <a:solidFill>
            <a:srgbClr val="308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8471" y="2990088"/>
            <a:ext cx="297180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Qwen grading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1" y="3300984"/>
            <a:ext cx="2971800" cy="1645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Qwen-only answer evaluation; no deterministic fallback score.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Requires finalScore, relevance, technical, depth, clarity, feedback, missingPoints.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Invalid/zero-copy JSON triggers repair or regrade.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56032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235BA6"/>
                </a:solidFill>
                <a:latin typeface="Aptos"/>
              </a:rPr>
              <a:t>AADHAAR, FACE VERIFICATION, AND LIVENESS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8229600" cy="6583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600" b="1">
                <a:solidFill>
                  <a:srgbClr val="121B29"/>
                </a:solidFill>
                <a:latin typeface="Aptos Display"/>
              </a:rPr>
              <a:t>Identity verification chains document validation, name matching, reference-face extraction, and live-frame checks.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25296"/>
            <a:ext cx="8412480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E6A7B"/>
                </a:solidFill>
                <a:latin typeface="Aptos"/>
              </a:rPr>
              <a:t>Liveness is assumed implemented; live face matching is already wired to webcam frame uploads.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E6A7B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1201400" cy="9144"/>
          </a:xfrm>
          <a:prstGeom prst="rect">
            <a:avLst/>
          </a:prstGeom>
          <a:solidFill>
            <a:srgbClr val="C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856231"/>
            <a:ext cx="1473490" cy="530352"/>
          </a:xfrm>
          <a:prstGeom prst="roundRect">
            <a:avLst/>
          </a:prstGeom>
          <a:solidFill>
            <a:srgbClr val="E8F1FD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19" b="1">
                <a:solidFill>
                  <a:srgbClr val="121B29"/>
                </a:solidFill>
                <a:latin typeface="Aptos"/>
              </a:rPr>
              <a:t>ATS passed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1586" y="1856231"/>
            <a:ext cx="1473490" cy="530352"/>
          </a:xfrm>
          <a:prstGeom prst="roundRect">
            <a:avLst/>
          </a:prstGeom>
          <a:solidFill>
            <a:srgbClr val="E8F1FD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19" b="1">
                <a:solidFill>
                  <a:srgbClr val="121B29"/>
                </a:solidFill>
                <a:latin typeface="Aptos"/>
              </a:rPr>
              <a:t>Aadhaar upload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41002" y="2121408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24804" y="1856231"/>
            <a:ext cx="1473490" cy="530352"/>
          </a:xfrm>
          <a:prstGeom prst="roundRect">
            <a:avLst/>
          </a:prstGeom>
          <a:solidFill>
            <a:srgbClr val="E5F6F4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19" b="1">
                <a:solidFill>
                  <a:srgbClr val="121B29"/>
                </a:solidFill>
                <a:latin typeface="Aptos"/>
              </a:rPr>
              <a:t>ID classifier/OCR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24220" y="2121408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08022" y="1856231"/>
            <a:ext cx="1473490" cy="530352"/>
          </a:xfrm>
          <a:prstGeom prst="roundRect">
            <a:avLst/>
          </a:prstGeom>
          <a:solidFill>
            <a:srgbClr val="E8F5EE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19" b="1">
                <a:solidFill>
                  <a:srgbClr val="121B29"/>
                </a:solidFill>
                <a:latin typeface="Aptos"/>
              </a:rPr>
              <a:t>Name &gt;= 0.70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07438" y="2121408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91241" y="1856231"/>
            <a:ext cx="1473490" cy="530352"/>
          </a:xfrm>
          <a:prstGeom prst="roundRect">
            <a:avLst/>
          </a:prstGeom>
          <a:solidFill>
            <a:srgbClr val="FAF1E2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19" b="1">
                <a:solidFill>
                  <a:srgbClr val="121B29"/>
                </a:solidFill>
                <a:latin typeface="Aptos"/>
              </a:rPr>
              <a:t>Photo/reference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90657" y="2121408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574459" y="1856231"/>
            <a:ext cx="147349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19" b="1">
                <a:solidFill>
                  <a:srgbClr val="121B29"/>
                </a:solidFill>
                <a:latin typeface="Aptos"/>
              </a:rPr>
              <a:t>Liveness frames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73875" y="2121408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157677" y="1856231"/>
            <a:ext cx="1473490" cy="530352"/>
          </a:xfrm>
          <a:prstGeom prst="roundRect">
            <a:avLst/>
          </a:prstGeom>
          <a:solidFill>
            <a:srgbClr val="E8F5EE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19" b="1">
                <a:solidFill>
                  <a:srgbClr val="121B29"/>
                </a:solidFill>
                <a:latin typeface="Aptos"/>
              </a:rPr>
              <a:t>Verified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57093" y="2121408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13232" y="2788920"/>
            <a:ext cx="9966959" cy="356616"/>
          </a:xfrm>
          <a:prstGeom prst="rect">
            <a:avLst/>
          </a:prstGeom>
          <a:solidFill>
            <a:srgbClr val="313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2852927"/>
            <a:ext cx="1435607" cy="28346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Aptos"/>
              </a:rPr>
              <a:t>Stage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8568" y="2852927"/>
            <a:ext cx="3767328" cy="28346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Aptos"/>
              </a:rPr>
              <a:t>Code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2852927"/>
            <a:ext cx="4544568" cy="28346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Aptos"/>
              </a:rPr>
              <a:t>Decision / artifact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3145536"/>
            <a:ext cx="9966959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200400"/>
            <a:ext cx="1435607" cy="30175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19" b="0">
                <a:solidFill>
                  <a:srgbClr val="121B29"/>
                </a:solidFill>
                <a:latin typeface="Aptos"/>
              </a:rPr>
              <a:t>Document 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58568" y="3200400"/>
            <a:ext cx="3767328" cy="30175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19" b="0">
                <a:solidFill>
                  <a:srgbClr val="121B29"/>
                </a:solidFill>
                <a:latin typeface="Aptos"/>
              </a:rPr>
              <a:t>id_model_service -&gt; subprocess indian-id-validator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3200400"/>
            <a:ext cx="4544568" cy="30175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19" b="0">
                <a:solidFill>
                  <a:srgbClr val="121B29"/>
                </a:solidFill>
                <a:latin typeface="Aptos"/>
              </a:rPr>
              <a:t>is_aadhaar + confidence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3502152"/>
            <a:ext cx="9966959" cy="356616"/>
          </a:xfrm>
          <a:prstGeom prst="rect">
            <a:avLst/>
          </a:prstGeom>
          <a:solidFill>
            <a:srgbClr val="F7F8FA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557016"/>
            <a:ext cx="1435607" cy="30175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19" b="0">
                <a:solidFill>
                  <a:srgbClr val="121B29"/>
                </a:solidFill>
                <a:latin typeface="Aptos"/>
              </a:rPr>
              <a:t>Field extraction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58568" y="3557016"/>
            <a:ext cx="3767328" cy="30175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19" b="0">
                <a:solidFill>
                  <a:srgbClr val="121B29"/>
                </a:solidFill>
                <a:latin typeface="Aptos"/>
              </a:rPr>
              <a:t>PaddleOCR/model output flattening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9048" y="3557016"/>
            <a:ext cx="4544568" cy="30175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19" b="0">
                <a:solidFill>
                  <a:srgbClr val="121B29"/>
                </a:solidFill>
                <a:latin typeface="Aptos"/>
              </a:rPr>
              <a:t>name, DOB, gender, masked Aadhaar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3858768"/>
            <a:ext cx="9966959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3913631"/>
            <a:ext cx="1435607" cy="30175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19" b="0">
                <a:solidFill>
                  <a:srgbClr val="121B29"/>
                </a:solidFill>
                <a:latin typeface="Aptos"/>
              </a:rPr>
              <a:t>Name match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58568" y="3913631"/>
            <a:ext cx="3767328" cy="30175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19" b="0">
                <a:solidFill>
                  <a:srgbClr val="121B29"/>
                </a:solidFill>
                <a:latin typeface="Aptos"/>
              </a:rPr>
              <a:t>SequenceMatcher + token initial matching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9048" y="3913631"/>
            <a:ext cx="4544568" cy="30175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19" b="0">
                <a:solidFill>
                  <a:srgbClr val="121B29"/>
                </a:solidFill>
                <a:latin typeface="Aptos"/>
              </a:rPr>
              <a:t>threshold 0.70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" y="4215383"/>
            <a:ext cx="9966959" cy="356616"/>
          </a:xfrm>
          <a:prstGeom prst="rect">
            <a:avLst/>
          </a:prstGeom>
          <a:solidFill>
            <a:srgbClr val="F7F8FA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4270247"/>
            <a:ext cx="1435607" cy="30175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19" b="0">
                <a:solidFill>
                  <a:srgbClr val="121B29"/>
                </a:solidFill>
                <a:latin typeface="Aptos"/>
              </a:rPr>
              <a:t>Reference face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58568" y="4270247"/>
            <a:ext cx="3767328" cy="30175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19" b="0">
                <a:solidFill>
                  <a:srgbClr val="121B29"/>
                </a:solidFill>
                <a:latin typeface="Aptos"/>
              </a:rPr>
              <a:t>Aadhaar face first, resume face fallback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9048" y="4270247"/>
            <a:ext cx="4544568" cy="30175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19" b="0">
                <a:solidFill>
                  <a:srgbClr val="121B29"/>
                </a:solidFill>
                <a:latin typeface="Aptos"/>
              </a:rPr>
              <a:t>aadhaar_face_image_path / resume_face_image_path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4572000"/>
            <a:ext cx="9966959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4626864"/>
            <a:ext cx="1435607" cy="30175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19" b="0">
                <a:solidFill>
                  <a:srgbClr val="121B29"/>
                </a:solidFill>
                <a:latin typeface="Aptos"/>
              </a:rPr>
              <a:t>Live face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58568" y="4626864"/>
            <a:ext cx="3767328" cy="30175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19" b="0">
                <a:solidFill>
                  <a:srgbClr val="121B29"/>
                </a:solidFill>
                <a:latin typeface="Aptos"/>
              </a:rPr>
              <a:t>InsightFace buffalo_l embeddings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9048" y="4626864"/>
            <a:ext cx="4544568" cy="30175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19" b="0">
                <a:solidFill>
                  <a:srgbClr val="121B29"/>
                </a:solidFill>
                <a:latin typeface="Aptos"/>
              </a:rPr>
              <a:t>cosine threshold FACE_VERIFY_THRESHOLD=0.38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" y="4928616"/>
            <a:ext cx="9966959" cy="356616"/>
          </a:xfrm>
          <a:prstGeom prst="rect">
            <a:avLst/>
          </a:prstGeom>
          <a:solidFill>
            <a:srgbClr val="F7F8FA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" y="4983479"/>
            <a:ext cx="1435607" cy="30175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19" b="0">
                <a:solidFill>
                  <a:srgbClr val="121B29"/>
                </a:solidFill>
                <a:latin typeface="Aptos"/>
              </a:rPr>
              <a:t>Liveness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58568" y="4983479"/>
            <a:ext cx="3767328" cy="30175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19" b="0">
                <a:solidFill>
                  <a:srgbClr val="121B29"/>
                </a:solidFill>
                <a:latin typeface="Aptos"/>
              </a:rPr>
              <a:t>Assumed active frame/liveness challenge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9048" y="4983479"/>
            <a:ext cx="4544568" cy="30175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19" b="0">
                <a:solidFill>
                  <a:srgbClr val="121B29"/>
                </a:solidFill>
                <a:latin typeface="Aptos"/>
              </a:rPr>
              <a:t>majority pass before interview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56032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235BA6"/>
                </a:solidFill>
                <a:latin typeface="Aptos"/>
              </a:rPr>
              <a:t>INTERVIEW, WHISPER, GRADING, AND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8229600" cy="6583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600" b="1">
                <a:solidFill>
                  <a:srgbClr val="121B29"/>
                </a:solidFill>
                <a:latin typeface="Aptos Display"/>
              </a:rPr>
              <a:t>The interview loop records voice answers, transcribes them locally, grades them with Qwen, and persists a report-ready record.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25296"/>
            <a:ext cx="8412480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E6A7B"/>
                </a:solidFill>
                <a:latin typeface="Aptos"/>
              </a:rPr>
              <a:t>Completed interviews expose score, transcript, answer rubric, feedback, and audio path for HR review/download.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E6A7B"/>
                </a:solidFill>
                <a:latin typeface="Apto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1201400" cy="9144"/>
          </a:xfrm>
          <a:prstGeom prst="rect">
            <a:avLst/>
          </a:prstGeom>
          <a:solidFill>
            <a:srgbClr val="C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847088"/>
            <a:ext cx="1473490" cy="530352"/>
          </a:xfrm>
          <a:prstGeom prst="roundRect">
            <a:avLst/>
          </a:prstGeom>
          <a:solidFill>
            <a:srgbClr val="E8F1FD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19" b="1">
                <a:solidFill>
                  <a:srgbClr val="121B29"/>
                </a:solidFill>
                <a:latin typeface="Aptos"/>
              </a:rPr>
              <a:t>Start interview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1586" y="1847088"/>
            <a:ext cx="1473490" cy="530352"/>
          </a:xfrm>
          <a:prstGeom prst="roundRect">
            <a:avLst/>
          </a:prstGeom>
          <a:solidFill>
            <a:srgbClr val="E8F1FD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19" b="1">
                <a:solidFill>
                  <a:srgbClr val="121B29"/>
                </a:solidFill>
                <a:latin typeface="Aptos"/>
              </a:rPr>
              <a:t>Load 5 questions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41002" y="2112264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24804" y="1847088"/>
            <a:ext cx="1473490" cy="530352"/>
          </a:xfrm>
          <a:prstGeom prst="roundRect">
            <a:avLst/>
          </a:prstGeom>
          <a:solidFill>
            <a:srgbClr val="E5F6F4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19" b="1">
                <a:solidFill>
                  <a:srgbClr val="121B29"/>
                </a:solidFill>
                <a:latin typeface="Aptos"/>
              </a:rPr>
              <a:t>Record audio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24220" y="2112264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08022" y="1847088"/>
            <a:ext cx="1473490" cy="530352"/>
          </a:xfrm>
          <a:prstGeom prst="roundRect">
            <a:avLst/>
          </a:prstGeom>
          <a:solidFill>
            <a:srgbClr val="E8F5EE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19" b="1">
                <a:solidFill>
                  <a:srgbClr val="121B29"/>
                </a:solidFill>
                <a:latin typeface="Aptos"/>
              </a:rPr>
              <a:t>Whisper transcript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07438" y="2112264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91241" y="1847088"/>
            <a:ext cx="1473490" cy="530352"/>
          </a:xfrm>
          <a:prstGeom prst="roundRect">
            <a:avLst/>
          </a:prstGeom>
          <a:solidFill>
            <a:srgbClr val="FAF1E2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19" b="1">
                <a:solidFill>
                  <a:srgbClr val="121B29"/>
                </a:solidFill>
                <a:latin typeface="Aptos"/>
              </a:rPr>
              <a:t>Qwen grade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90657" y="2112264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574459" y="1847088"/>
            <a:ext cx="147349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19" b="1">
                <a:solidFill>
                  <a:srgbClr val="121B29"/>
                </a:solidFill>
                <a:latin typeface="Aptos"/>
              </a:rPr>
              <a:t>Save answer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73875" y="2112264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157677" y="1847088"/>
            <a:ext cx="1473490" cy="530352"/>
          </a:xfrm>
          <a:prstGeom prst="roundRect">
            <a:avLst/>
          </a:prstGeom>
          <a:solidFill>
            <a:srgbClr val="E8F5EE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919" b="1">
                <a:solidFill>
                  <a:srgbClr val="121B29"/>
                </a:solidFill>
                <a:latin typeface="Aptos"/>
              </a:rPr>
              <a:t>Complete + report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57093" y="2112264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" y="2880360"/>
            <a:ext cx="329184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2880360"/>
            <a:ext cx="73152" cy="2194560"/>
          </a:xfrm>
          <a:prstGeom prst="rect">
            <a:avLst/>
          </a:prstGeom>
          <a:solidFill>
            <a:srgbClr val="23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2990088"/>
            <a:ext cx="301752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Whisper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3300984"/>
            <a:ext cx="3017520" cy="1691639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Audio stored in candidate/interview_audio.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faster-whisper loads medium by default with small/base fallback.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CPU int8 default; transcript, language, model returned.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2880360"/>
            <a:ext cx="329184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2880360"/>
            <a:ext cx="73152" cy="2194560"/>
          </a:xfrm>
          <a:prstGeom prst="rect">
            <a:avLst/>
          </a:prstGeom>
          <a:solidFill>
            <a:srgbClr val="14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1" y="2990088"/>
            <a:ext cx="301752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Grading path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1" y="3300984"/>
            <a:ext cx="3017520" cy="1691639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AnswerEvaluationRequest carries question_id, transcript, audio_path.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Qwen health is checked before grading.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Every answer must be graded before complete_interview succeeds.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2880360"/>
            <a:ext cx="329184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2880360"/>
            <a:ext cx="73152" cy="2194560"/>
          </a:xfrm>
          <a:prstGeom prst="rect">
            <a:avLst/>
          </a:prstGeom>
          <a:solidFill>
            <a:srgbClr val="308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7031" y="2990088"/>
            <a:ext cx="301752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Downloadable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1" y="3300984"/>
            <a:ext cx="3017520" cy="1691639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Assumed implemented export uses persisted interview_answers.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Report contains candidate, ATS, verification, score, per-question transcript, expected answer, rubric, feedback, missing points, and timestamps.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56032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235BA6"/>
                </a:solidFill>
                <a:latin typeface="Aptos"/>
              </a:rPr>
              <a:t>STORAGE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8229600" cy="6583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600" b="1">
                <a:solidFill>
                  <a:srgbClr val="121B29"/>
                </a:solidFill>
                <a:latin typeface="Aptos Display"/>
              </a:rPr>
              <a:t>The current persistence layer is local JSON/files behind a MongoDB-compatible service boundary.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25296"/>
            <a:ext cx="8412480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E6A7B"/>
                </a:solidFill>
                <a:latin typeface="Aptos"/>
              </a:rPr>
              <a:t>db_service preserves older imports, while application_store_service owns local storage.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E6A7B"/>
                </a:solidFill>
                <a:latin typeface="Apto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1201400" cy="9144"/>
          </a:xfrm>
          <a:prstGeom prst="rect">
            <a:avLst/>
          </a:prstGeom>
          <a:solidFill>
            <a:srgbClr val="C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74519"/>
            <a:ext cx="10744200" cy="411480"/>
          </a:xfrm>
          <a:prstGeom prst="rect">
            <a:avLst/>
          </a:prstGeom>
          <a:solidFill>
            <a:srgbClr val="313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938527"/>
            <a:ext cx="1755648" cy="33832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30" b="1">
                <a:solidFill>
                  <a:srgbClr val="FFFFFF"/>
                </a:solidFill>
                <a:latin typeface="Aptos"/>
              </a:rPr>
              <a:t>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3744" y="1938527"/>
            <a:ext cx="3630168" cy="33832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30" b="1">
                <a:solidFill>
                  <a:srgbClr val="FFFFFF"/>
                </a:solidFill>
                <a:latin typeface="Aptos"/>
              </a:rPr>
              <a:t>Path / collection equivalent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7064" y="1938527"/>
            <a:ext cx="5138928" cy="33832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30" b="1">
                <a:solidFill>
                  <a:srgbClr val="FFFFFF"/>
                </a:solidFill>
                <a:latin typeface="Aptos"/>
              </a:rPr>
              <a:t>Key contents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86000"/>
            <a:ext cx="10744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340864"/>
            <a:ext cx="175564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30" b="0">
                <a:solidFill>
                  <a:srgbClr val="121B29"/>
                </a:solidFill>
                <a:latin typeface="Aptos"/>
              </a:rPr>
              <a:t>Jobs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3744" y="2340864"/>
            <a:ext cx="363016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30" b="0">
                <a:solidFill>
                  <a:srgbClr val="121B29"/>
                </a:solidFill>
                <a:latin typeface="Aptos"/>
              </a:rPr>
              <a:t>backend/app/storage/jobs.json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7064" y="2340864"/>
            <a:ext cx="513892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30" b="0">
                <a:solidFill>
                  <a:srgbClr val="121B29"/>
                </a:solidFill>
                <a:latin typeface="Aptos"/>
              </a:rPr>
              <a:t>id, title, description, skills, education, experience, keywords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697479"/>
            <a:ext cx="10744200" cy="411480"/>
          </a:xfrm>
          <a:prstGeom prst="rect">
            <a:avLst/>
          </a:prstGeom>
          <a:solidFill>
            <a:srgbClr val="F7F8FA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752344"/>
            <a:ext cx="175564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30" b="0">
                <a:solidFill>
                  <a:srgbClr val="121B29"/>
                </a:solidFill>
                <a:latin typeface="Aptos"/>
              </a:rPr>
              <a:t>Applications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3744" y="2752344"/>
            <a:ext cx="363016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30" b="0">
                <a:solidFill>
                  <a:srgbClr val="121B29"/>
                </a:solidFill>
                <a:latin typeface="Aptos"/>
              </a:rPr>
              <a:t>backend/app/storage/applications.json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2752344"/>
            <a:ext cx="513892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30" b="0">
                <a:solidFill>
                  <a:srgbClr val="121B29"/>
                </a:solidFill>
                <a:latin typeface="Aptos"/>
              </a:rPr>
              <a:t>candidate, ATS, verification, interview, links, paths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108960"/>
            <a:ext cx="10744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163824"/>
            <a:ext cx="175564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30" b="0">
                <a:solidFill>
                  <a:srgbClr val="121B29"/>
                </a:solidFill>
                <a:latin typeface="Aptos"/>
              </a:rPr>
              <a:t>Candidate folder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3163824"/>
            <a:ext cx="363016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30" b="0">
                <a:solidFill>
                  <a:srgbClr val="121B29"/>
                </a:solidFill>
                <a:latin typeface="Aptos"/>
              </a:rPr>
              <a:t>storage/candidates/{application_id}/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7064" y="3163824"/>
            <a:ext cx="513892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30" b="0">
                <a:solidFill>
                  <a:srgbClr val="121B29"/>
                </a:solidFill>
                <a:latin typeface="Aptos"/>
              </a:rPr>
              <a:t>resumes, resume_faces, aadhaar, aadhaar_faces, interview_audio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520439"/>
            <a:ext cx="10744200" cy="411480"/>
          </a:xfrm>
          <a:prstGeom prst="rect">
            <a:avLst/>
          </a:prstGeom>
          <a:solidFill>
            <a:srgbClr val="F7F8FA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3575303"/>
            <a:ext cx="175564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30" b="0">
                <a:solidFill>
                  <a:srgbClr val="121B29"/>
                </a:solidFill>
                <a:latin typeface="Aptos"/>
              </a:rPr>
              <a:t>Question banks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3744" y="3575303"/>
            <a:ext cx="363016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30" b="0">
                <a:solidFill>
                  <a:srgbClr val="121B29"/>
                </a:solidFill>
                <a:latin typeface="Aptos"/>
              </a:rPr>
              <a:t>storage/question_banks/{job_id}.json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7064" y="3575303"/>
            <a:ext cx="513892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30" b="0">
                <a:solidFill>
                  <a:srgbClr val="121B29"/>
                </a:solidFill>
                <a:latin typeface="Aptos"/>
              </a:rPr>
              <a:t>normalized questions + expected answers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931920"/>
            <a:ext cx="10744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3986783"/>
            <a:ext cx="175564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30" b="0">
                <a:solidFill>
                  <a:srgbClr val="121B29"/>
                </a:solidFill>
                <a:latin typeface="Aptos"/>
              </a:rPr>
              <a:t>Interview links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3744" y="3986783"/>
            <a:ext cx="363016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30" b="0">
                <a:solidFill>
                  <a:srgbClr val="121B29"/>
                </a:solidFill>
                <a:latin typeface="Aptos"/>
              </a:rPr>
              <a:t>storage/interview_links/{token}.json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7064" y="3986783"/>
            <a:ext cx="513892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30" b="0">
                <a:solidFill>
                  <a:srgbClr val="121B29"/>
                </a:solidFill>
                <a:latin typeface="Aptos"/>
              </a:rPr>
              <a:t>token, expiry, verification/interview URLs, used flag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43400"/>
            <a:ext cx="10744200" cy="411480"/>
          </a:xfrm>
          <a:prstGeom prst="rect">
            <a:avLst/>
          </a:prstGeom>
          <a:solidFill>
            <a:srgbClr val="F7F8FA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4398264"/>
            <a:ext cx="175564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30" b="0">
                <a:solidFill>
                  <a:srgbClr val="121B29"/>
                </a:solidFill>
                <a:latin typeface="Aptos"/>
              </a:rPr>
              <a:t>Model caches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23744" y="4398264"/>
            <a:ext cx="363016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30" b="0">
                <a:solidFill>
                  <a:srgbClr val="121B29"/>
                </a:solidFill>
                <a:latin typeface="Aptos"/>
              </a:rPr>
              <a:t>backend/models/huggingface, backend/models/whisper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27064" y="4398264"/>
            <a:ext cx="513892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30" b="0">
                <a:solidFill>
                  <a:srgbClr val="121B29"/>
                </a:solidFill>
                <a:latin typeface="Aptos"/>
              </a:rPr>
              <a:t>JobBERT and Faster-Whisper snapshots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754879"/>
            <a:ext cx="10744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" y="4809743"/>
            <a:ext cx="175564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30" b="0">
                <a:solidFill>
                  <a:srgbClr val="121B29"/>
                </a:solidFill>
                <a:latin typeface="Aptos"/>
              </a:rPr>
              <a:t>Live frames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23744" y="4809743"/>
            <a:ext cx="363016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30" b="0">
                <a:solidFill>
                  <a:srgbClr val="121B29"/>
                </a:solidFill>
                <a:latin typeface="Aptos"/>
              </a:rPr>
              <a:t>storage/live_frames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27064" y="4809743"/>
            <a:ext cx="513892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830" b="0">
                <a:solidFill>
                  <a:srgbClr val="121B29"/>
                </a:solidFill>
                <a:latin typeface="Aptos"/>
              </a:rPr>
              <a:t>webcam frames sent for face verification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1248" y="5715000"/>
            <a:ext cx="10058400" cy="640080"/>
          </a:xfrm>
          <a:prstGeom prst="roundRect">
            <a:avLst/>
          </a:prstGeom>
          <a:solidFill>
            <a:srgbClr val="E8F1FD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41248" y="5715000"/>
            <a:ext cx="73152" cy="640080"/>
          </a:xfrm>
          <a:prstGeom prst="rect">
            <a:avLst/>
          </a:prstGeom>
          <a:solidFill>
            <a:srgbClr val="23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824728"/>
            <a:ext cx="978408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MongoDB 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6135624"/>
            <a:ext cx="9784080" cy="137159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The code defines MongoConnectionError only for compatibility and explicitly says MongoDB is no longer used. Future production hardening can swap this service boundary back to MongoDB without changing most routes.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56032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235BA6"/>
                </a:solidFill>
                <a:latin typeface="Aptos"/>
              </a:rPr>
              <a:t>ROUTES AND FRONTEND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8229600" cy="6583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600" b="1">
                <a:solidFill>
                  <a:srgbClr val="121B29"/>
                </a:solidFill>
                <a:latin typeface="Aptos Display"/>
              </a:rPr>
              <a:t>Backend route groups map cleanly to HR and candidate pages.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25296"/>
            <a:ext cx="8412480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E6A7B"/>
                </a:solidFill>
                <a:latin typeface="Aptos"/>
              </a:rPr>
              <a:t>This is the operational API map reviewers can use during a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E6A7B"/>
                </a:solidFill>
                <a:latin typeface="Apto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1201400" cy="9144"/>
          </a:xfrm>
          <a:prstGeom prst="rect">
            <a:avLst/>
          </a:prstGeom>
          <a:solidFill>
            <a:srgbClr val="C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10561320" cy="502920"/>
          </a:xfrm>
          <a:prstGeom prst="rect">
            <a:avLst/>
          </a:prstGeom>
          <a:solidFill>
            <a:srgbClr val="313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938527"/>
            <a:ext cx="1344168" cy="4297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ptos"/>
              </a:rPr>
              <a:t>Route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8256" y="1938527"/>
            <a:ext cx="5276088" cy="4297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ptos"/>
              </a:rPr>
              <a:t>Representative 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7496" y="1938527"/>
            <a:ext cx="3721608" cy="4297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ptos"/>
              </a:rPr>
              <a:t>Frontend callers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377439"/>
            <a:ext cx="10561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432303"/>
            <a:ext cx="1344168" cy="4480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121B29"/>
                </a:solidFill>
                <a:latin typeface="Aptos"/>
              </a:rPr>
              <a:t>Resume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8256" y="2432303"/>
            <a:ext cx="5276088" cy="4480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121B29"/>
                </a:solidFill>
                <a:latin typeface="Aptos"/>
              </a:rPr>
              <a:t>POST /api/resume/upload, /bulk-upload, /extract-text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7496" y="2432303"/>
            <a:ext cx="3721608" cy="4480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121B29"/>
                </a:solidFill>
                <a:latin typeface="Aptos"/>
              </a:rPr>
              <a:t>StudentUploadPage, UploadResumePage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880360"/>
            <a:ext cx="1056132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2935224"/>
            <a:ext cx="1344168" cy="4480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121B29"/>
                </a:solidFill>
                <a:latin typeface="Aptos"/>
              </a:rPr>
              <a:t>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8256" y="2935224"/>
            <a:ext cx="5276088" cy="4480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121B29"/>
                </a:solidFill>
                <a:latin typeface="Aptos"/>
              </a:rPr>
              <a:t>GET /api/ats/score/{id}, POST /api/ats/{id}/decision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7496" y="2935224"/>
            <a:ext cx="3721608" cy="4480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121B29"/>
                </a:solidFill>
                <a:latin typeface="Aptos"/>
              </a:rPr>
              <a:t>AtsScreeningPage, bulk upload route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383280"/>
            <a:ext cx="10561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3438144"/>
            <a:ext cx="1344168" cy="4480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121B29"/>
                </a:solidFill>
                <a:latin typeface="Aptos"/>
              </a:rPr>
              <a:t>KYC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48256" y="3438144"/>
            <a:ext cx="5276088" cy="4480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121B29"/>
                </a:solidFill>
                <a:latin typeface="Aptos"/>
              </a:rPr>
              <a:t>GET /candidate/{id}, /verification-status/{id}; POST /aadhaar/upload/{id}, /verification/mark/{id}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7496" y="3438144"/>
            <a:ext cx="3721608" cy="4480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121B29"/>
                </a:solidFill>
                <a:latin typeface="Aptos"/>
              </a:rPr>
              <a:t>AadhaarUploadPage, FaceVerificationPage, App route guards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886200"/>
            <a:ext cx="1056132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3941063"/>
            <a:ext cx="1344168" cy="4480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121B29"/>
                </a:solidFill>
                <a:latin typeface="Aptos"/>
              </a:rPr>
              <a:t>Interview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48256" y="3941063"/>
            <a:ext cx="5276088" cy="4480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121B29"/>
                </a:solidFill>
                <a:latin typeface="Aptos"/>
              </a:rPr>
              <a:t>POST /create-link, /start, /transcribe, /evaluate, /complete; GET /qwen-health, /face-health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7496" y="3941063"/>
            <a:ext cx="3721608" cy="4480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121B29"/>
                </a:solidFill>
                <a:latin typeface="Aptos"/>
              </a:rPr>
              <a:t>InterviewPage, ShortlistedCandidatesPage, JobApplicationsPage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389120"/>
            <a:ext cx="10561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4443983"/>
            <a:ext cx="1344168" cy="4480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121B29"/>
                </a:solidFill>
                <a:latin typeface="Aptos"/>
              </a:rPr>
              <a:t>HR/jobs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48256" y="4443983"/>
            <a:ext cx="5276088" cy="4480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121B29"/>
                </a:solidFill>
                <a:latin typeface="Aptos"/>
              </a:rPr>
              <a:t>POST/GET /api/hr/jobs; GET/DELETE /applications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97496" y="4443983"/>
            <a:ext cx="3721608" cy="4480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121B29"/>
                </a:solidFill>
                <a:latin typeface="Aptos"/>
              </a:rPr>
              <a:t>HRDashboardPage, CurrentJobsPage, JobApplicationsPage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4892040"/>
            <a:ext cx="1056132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4946903"/>
            <a:ext cx="1344168" cy="4480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121B29"/>
                </a:solidFill>
                <a:latin typeface="Aptos"/>
              </a:rPr>
              <a:t>Question bank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48256" y="4946903"/>
            <a:ext cx="5276088" cy="4480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121B29"/>
                </a:solidFill>
                <a:latin typeface="Aptos"/>
              </a:rPr>
              <a:t>POST /question-bank/save, /upload; GET /jobs/{job_id}/question-bank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7496" y="4946903"/>
            <a:ext cx="3721608" cy="4480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50" b="0">
                <a:solidFill>
                  <a:srgbClr val="121B29"/>
                </a:solidFill>
                <a:latin typeface="Aptos"/>
              </a:rPr>
              <a:t>QuestionBankPage, InterviewPage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56032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235BA6"/>
                </a:solidFill>
                <a:latin typeface="Aptos"/>
              </a:rPr>
              <a:t>PACKAGES AND MODEL RUNTIME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8229600" cy="6583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600" b="1">
                <a:solidFill>
                  <a:srgbClr val="121B29"/>
                </a:solidFill>
                <a:latin typeface="Aptos Display"/>
              </a:rPr>
              <a:t>Core modules are local-first after their first model downloads or pulls.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25296"/>
            <a:ext cx="8412480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E6A7B"/>
                </a:solidFill>
                <a:latin typeface="Aptos"/>
              </a:rPr>
              <a:t>The main backend, ID validator venv, Ollama, and browser APIs form the runtime footprint.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E6A7B"/>
                </a:solidFill>
                <a:latin typeface="Apto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1201400" cy="9144"/>
          </a:xfrm>
          <a:prstGeom prst="rect">
            <a:avLst/>
          </a:prstGeom>
          <a:solidFill>
            <a:srgbClr val="C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10512"/>
            <a:ext cx="9601200" cy="411480"/>
          </a:xfrm>
          <a:prstGeom prst="rect">
            <a:avLst/>
          </a:prstGeom>
          <a:solidFill>
            <a:srgbClr val="313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874519"/>
            <a:ext cx="1938528" cy="33832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1">
                <a:solidFill>
                  <a:srgbClr val="FFFFFF"/>
                </a:solidFill>
                <a:latin typeface="Aptos"/>
              </a:rPr>
              <a:t>Model/package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6896" y="1874519"/>
            <a:ext cx="2350008" cy="33832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1">
                <a:solidFill>
                  <a:srgbClr val="FFFFFF"/>
                </a:solidFill>
                <a:latin typeface="Aptos"/>
              </a:rPr>
              <a:t>Used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0056" y="1874519"/>
            <a:ext cx="2990088" cy="33832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1">
                <a:solidFill>
                  <a:srgbClr val="FFFFFF"/>
                </a:solidFill>
                <a:latin typeface="Aptos"/>
              </a:rPr>
              <a:t>First internet download?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874519"/>
            <a:ext cx="2029967" cy="33832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1">
                <a:solidFill>
                  <a:srgbClr val="FFFFFF"/>
                </a:solidFill>
                <a:latin typeface="Aptos"/>
              </a:rPr>
              <a:t>Offline after cache?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21992"/>
            <a:ext cx="9601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2276856"/>
            <a:ext cx="193852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TechWolf/JobBERT-v3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2276856"/>
            <a:ext cx="235000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ATS semantic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0056" y="2276856"/>
            <a:ext cx="299008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Yes, Hugging Face on first SentenceTransformer 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276856"/>
            <a:ext cx="2029967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Yes, if cached under HF model cache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33472"/>
            <a:ext cx="9601200" cy="411480"/>
          </a:xfrm>
          <a:prstGeom prst="rect">
            <a:avLst/>
          </a:prstGeom>
          <a:solidFill>
            <a:srgbClr val="F7F8FA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2688336"/>
            <a:ext cx="193852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faster-whisper medium/small/base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2688336"/>
            <a:ext cx="235000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Voice transcription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0056" y="2688336"/>
            <a:ext cx="299008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Yes, first model load into backend/models/whisper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688336"/>
            <a:ext cx="2029967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Yes, cached locally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44952"/>
            <a:ext cx="9601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" y="3099816"/>
            <a:ext cx="193852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Qwen2.5:7b via Ollama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6896" y="3099816"/>
            <a:ext cx="235000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Question generation and grading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0056" y="3099816"/>
            <a:ext cx="299008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Yes, ollama pull qwen2.5:7b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099816"/>
            <a:ext cx="2029967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Yes, if Ollama model is pulled and running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456432"/>
            <a:ext cx="9601200" cy="411480"/>
          </a:xfrm>
          <a:prstGeom prst="rect">
            <a:avLst/>
          </a:prstGeom>
          <a:solidFill>
            <a:srgbClr val="F7F8FA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" y="3511296"/>
            <a:ext cx="193852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InsightFace buffalo_l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96896" y="3511296"/>
            <a:ext cx="235000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ArcFace face embeddings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0056" y="3511296"/>
            <a:ext cx="299008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Yes, first InsightFace model fetch if absent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3511296"/>
            <a:ext cx="2029967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Yes, cached model assets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867912"/>
            <a:ext cx="9601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3922776"/>
            <a:ext cx="193852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YOLO .pt ID models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96896" y="3922776"/>
            <a:ext cx="235000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Indian ID classification/detection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0056" y="3922776"/>
            <a:ext cx="299008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No for bundled .pt files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83296" y="3922776"/>
            <a:ext cx="2029967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Yes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279392"/>
            <a:ext cx="9601200" cy="411480"/>
          </a:xfrm>
          <a:prstGeom prst="rect">
            <a:avLst/>
          </a:prstGeom>
          <a:solidFill>
            <a:srgbClr val="F7F8FA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6" y="4334255"/>
            <a:ext cx="193852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PaddleOCR/PaddlePaddle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96896" y="4334255"/>
            <a:ext cx="235000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Aadhaar OCR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0056" y="4334255"/>
            <a:ext cx="299008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Package/model assets may download during setup/use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83296" y="4334255"/>
            <a:ext cx="2029967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Yes after installed/cached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690872"/>
            <a:ext cx="9601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" y="4745736"/>
            <a:ext cx="193852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PyMuPDF/OpenCV/numpy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96896" y="4745736"/>
            <a:ext cx="235000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PDF/text/image processing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0056" y="4745736"/>
            <a:ext cx="2990088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Package install only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83296" y="4745736"/>
            <a:ext cx="2029967" cy="35661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730" b="0">
                <a:solidFill>
                  <a:srgbClr val="121B29"/>
                </a:solidFill>
                <a:latin typeface="Aptos"/>
              </a:rPr>
              <a:t>Yes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56032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235BA6"/>
                </a:solidFill>
                <a:latin typeface="Aptos"/>
              </a:rPr>
              <a:t>END-TO-END PIPELINE AND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8229600" cy="6583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600" b="1">
                <a:solidFill>
                  <a:srgbClr val="121B29"/>
                </a:solidFill>
                <a:latin typeface="Aptos Display"/>
              </a:rPr>
              <a:t>The platform is demo-ready as a local AI hiring workflow, with clear production hardening next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25296"/>
            <a:ext cx="8412480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50" b="0">
                <a:solidFill>
                  <a:srgbClr val="5E6A7B"/>
                </a:solidFill>
                <a:latin typeface="Aptos"/>
              </a:rPr>
              <a:t>Assumptions included: liveness check implemented and completed interview reports downloadable.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900" b="1">
                <a:solidFill>
                  <a:srgbClr val="5E6A7B"/>
                </a:solidFill>
                <a:latin typeface="Aptos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1201400" cy="9144"/>
          </a:xfrm>
          <a:prstGeom prst="rect">
            <a:avLst/>
          </a:prstGeom>
          <a:solidFill>
            <a:srgbClr val="C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847088"/>
            <a:ext cx="1021384" cy="493776"/>
          </a:xfrm>
          <a:prstGeom prst="roundRect">
            <a:avLst/>
          </a:prstGeom>
          <a:solidFill>
            <a:srgbClr val="E8F1FD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810" b="1">
                <a:solidFill>
                  <a:srgbClr val="121B29"/>
                </a:solidFill>
                <a:latin typeface="Aptos"/>
              </a:rPr>
              <a:t>Job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34032" y="1847088"/>
            <a:ext cx="1021384" cy="493776"/>
          </a:xfrm>
          <a:prstGeom prst="roundRect">
            <a:avLst/>
          </a:prstGeom>
          <a:solidFill>
            <a:srgbClr val="E8F1FD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810" b="1">
                <a:solidFill>
                  <a:srgbClr val="121B29"/>
                </a:solidFill>
                <a:latin typeface="Aptos"/>
              </a:rPr>
              <a:t>Question bank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33448" y="2093976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65145" y="1847088"/>
            <a:ext cx="1021384" cy="493776"/>
          </a:xfrm>
          <a:prstGeom prst="roundRect">
            <a:avLst/>
          </a:prstGeom>
          <a:solidFill>
            <a:srgbClr val="E5F6F4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810" b="1">
                <a:solidFill>
                  <a:srgbClr val="121B29"/>
                </a:solidFill>
                <a:latin typeface="Aptos"/>
              </a:rPr>
              <a:t>Bulk resumes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64561" y="2093976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96258" y="1847088"/>
            <a:ext cx="1021384" cy="493776"/>
          </a:xfrm>
          <a:prstGeom prst="roundRect">
            <a:avLst/>
          </a:prstGeom>
          <a:solidFill>
            <a:srgbClr val="E8F5EE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810" b="1">
                <a:solidFill>
                  <a:srgbClr val="121B29"/>
                </a:solidFill>
                <a:latin typeface="Aptos"/>
              </a:rPr>
              <a:t>ATS pass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95674" y="2093976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7371" y="1847088"/>
            <a:ext cx="1021384" cy="493776"/>
          </a:xfrm>
          <a:prstGeom prst="roundRect">
            <a:avLst/>
          </a:prstGeom>
          <a:solidFill>
            <a:srgbClr val="FAF1E2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810" b="1">
                <a:solidFill>
                  <a:srgbClr val="121B29"/>
                </a:solidFill>
                <a:latin typeface="Aptos"/>
              </a:rPr>
              <a:t>Aadhaar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26787" y="2093976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58484" y="1847088"/>
            <a:ext cx="1021384" cy="4937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810" b="1">
                <a:solidFill>
                  <a:srgbClr val="121B29"/>
                </a:solidFill>
                <a:latin typeface="Aptos"/>
              </a:rPr>
              <a:t>Face+liveness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57900" y="2093976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289596" y="1847088"/>
            <a:ext cx="1021384" cy="493776"/>
          </a:xfrm>
          <a:prstGeom prst="roundRect">
            <a:avLst/>
          </a:prstGeom>
          <a:solidFill>
            <a:srgbClr val="E8F1FD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810" b="1">
                <a:solidFill>
                  <a:srgbClr val="121B29"/>
                </a:solidFill>
                <a:latin typeface="Aptos"/>
              </a:rPr>
              <a:t>Interview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89012" y="2093976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420709" y="1847088"/>
            <a:ext cx="1021384" cy="493776"/>
          </a:xfrm>
          <a:prstGeom prst="roundRect">
            <a:avLst/>
          </a:prstGeom>
          <a:solidFill>
            <a:srgbClr val="E5F6F4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810" b="1">
                <a:solidFill>
                  <a:srgbClr val="121B29"/>
                </a:solidFill>
                <a:latin typeface="Aptos"/>
              </a:rPr>
              <a:t>Whisper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20125" y="2093976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51822" y="1847088"/>
            <a:ext cx="1021384" cy="493776"/>
          </a:xfrm>
          <a:prstGeom prst="roundRect">
            <a:avLst/>
          </a:prstGeom>
          <a:solidFill>
            <a:srgbClr val="FAF1E2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810" b="1">
                <a:solidFill>
                  <a:srgbClr val="121B29"/>
                </a:solidFill>
                <a:latin typeface="Aptos"/>
              </a:rPr>
              <a:t>Qwen grade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451238" y="2093976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682935" y="1847088"/>
            <a:ext cx="1021384" cy="493776"/>
          </a:xfrm>
          <a:prstGeom prst="roundRect">
            <a:avLst/>
          </a:prstGeom>
          <a:solidFill>
            <a:srgbClr val="E8F5EE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810" b="1">
                <a:solidFill>
                  <a:srgbClr val="121B29"/>
                </a:solidFill>
                <a:latin typeface="Aptos"/>
              </a:rPr>
              <a:t>Report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582351" y="2093976"/>
            <a:ext cx="82296" cy="0"/>
          </a:xfrm>
          <a:prstGeom prst="line">
            <a:avLst/>
          </a:prstGeom>
          <a:ln w="12700">
            <a:solidFill>
              <a:srgbClr val="5E6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77240" y="2743200"/>
            <a:ext cx="4983480" cy="2560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2743200"/>
            <a:ext cx="73152" cy="2560320"/>
          </a:xfrm>
          <a:prstGeom prst="rect">
            <a:avLst/>
          </a:prstGeom>
          <a:solidFill>
            <a:srgbClr val="BC4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2852928"/>
            <a:ext cx="470916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Current limitations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" y="3163824"/>
            <a:ext cx="4709160" cy="20574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Local JSON storage has limited concurrency/audit guarantees.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ATS weight calibration needs normalization and validation data.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Report download is treated as implemented per demo assumption.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Face liveness policy should be made explicit in backend state and thresholds.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Model availability depends on local caches/Ollama service readiness.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2743200"/>
            <a:ext cx="4983480" cy="2560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2743200"/>
            <a:ext cx="73152" cy="2560320"/>
          </a:xfrm>
          <a:prstGeom prst="rect">
            <a:avLst/>
          </a:prstGeom>
          <a:solidFill>
            <a:srgbClr val="308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8231" y="2852928"/>
            <a:ext cx="4709160" cy="25603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21B29"/>
                </a:solidFill>
                <a:latin typeface="Aptos"/>
              </a:rPr>
              <a:t>Future improvements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1" y="3163824"/>
            <a:ext cx="4709160" cy="20574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Move persistence to MongoDB with indexes and audit trails.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Add signed candidate links, expiry enforcement UI, and email delivery.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Add downloadable PDF/CSV reports as first-class API endpoints.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Add model readiness dashboard and preflight checks.</a:t>
            </a:r>
          </a:p>
          <a:p>
            <a:pPr>
              <a:spcAft>
                <a:spcPts val="500"/>
              </a:spcAft>
            </a:pPr>
            <a:r>
              <a:rPr sz="1030">
                <a:solidFill>
                  <a:srgbClr val="5E6A7B"/>
                </a:solidFill>
                <a:latin typeface="Aptos"/>
              </a:rPr>
              <a:t>Add tests for ATS math, KYC edge cases, route guards, and interview completion.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989320"/>
            <a:ext cx="10424160" cy="32004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21B29"/>
                </a:solidFill>
                <a:latin typeface="Aptos"/>
              </a:rPr>
              <a:t>Review takeaway: modules are well separated; the main production work is persistence, security, calibration, observability, and test coverage.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